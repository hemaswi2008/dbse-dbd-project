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79" d="100"/>
          <a:sy n="79" d="100"/>
        </p:scale>
        <p:origin x="50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6570602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233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09760" y="-1463040"/>
            <a:ext cx="4754880" cy="475488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3" name="Shape 1"/>
          <p:cNvSpPr/>
          <p:nvPr/>
        </p:nvSpPr>
        <p:spPr>
          <a:xfrm>
            <a:off x="10607040" y="4206240"/>
            <a:ext cx="3108960" cy="3108960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4" name="Shape 2"/>
          <p:cNvSpPr/>
          <p:nvPr/>
        </p:nvSpPr>
        <p:spPr>
          <a:xfrm>
            <a:off x="-1280160" y="4846320"/>
            <a:ext cx="3657600" cy="365760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5" name="Shape 3"/>
          <p:cNvSpPr/>
          <p:nvPr/>
        </p:nvSpPr>
        <p:spPr>
          <a:xfrm>
            <a:off x="9464040" y="502920"/>
            <a:ext cx="2148840" cy="457200"/>
          </a:xfrm>
          <a:prstGeom prst="rect">
            <a:avLst/>
          </a:prstGeom>
          <a:solidFill>
            <a:srgbClr val="23345A"/>
          </a:solidFill>
          <a:ln w="12700">
            <a:solidFill>
              <a:srgbClr val="F2A93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464040" y="502920"/>
            <a:ext cx="2148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kern="0" spc="10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REVIEW - 2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822960" y="12344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 PREPARATION SYSTEM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22960" y="1627632"/>
            <a:ext cx="877824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46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Exam Preparation </a:t>
            </a:r>
            <a:r>
              <a:rPr lang="en-US" sz="40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with Adaptive Quizzes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822960" y="3127248"/>
            <a:ext cx="8778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300" b="1" kern="0" spc="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SYSTEMS ENGINEERING AND DISTRIBUTED BACKEND DEVELOPMENT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868680" y="3977640"/>
            <a:ext cx="1280160" cy="0"/>
          </a:xfrm>
          <a:prstGeom prst="line">
            <a:avLst/>
          </a:prstGeom>
          <a:noFill/>
          <a:ln w="38100">
            <a:solidFill>
              <a:srgbClr val="F2A93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" y="416052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94A3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- 26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822960" y="457200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2520030385  </a:t>
            </a:r>
            <a:r>
              <a:rPr lang="en-US" sz="1350" dirty="0">
                <a:solidFill>
                  <a:srgbClr val="F2F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Tanvitha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822960" y="4956048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2520030069  </a:t>
            </a:r>
            <a:r>
              <a:rPr lang="en-US" sz="1350" dirty="0">
                <a:solidFill>
                  <a:srgbClr val="F2F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Hemaswi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822960" y="5340096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2520030350  </a:t>
            </a:r>
            <a:r>
              <a:rPr lang="en-US" sz="1350" dirty="0">
                <a:solidFill>
                  <a:srgbClr val="F2F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Vedika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9646920" y="2331720"/>
            <a:ext cx="1737360" cy="1737360"/>
          </a:xfrm>
          <a:prstGeom prst="ellipse">
            <a:avLst/>
          </a:prstGeom>
          <a:solidFill>
            <a:srgbClr val="23345A"/>
          </a:solidFill>
          <a:ln/>
        </p:spPr>
      </p:sp>
      <p:pic>
        <p:nvPicPr>
          <p:cNvPr id="16" name="Image 0" descr="/home/claude/ppt/icon_gra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63886" y="2748686"/>
            <a:ext cx="903427" cy="90342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931920" cy="6858000"/>
          </a:xfrm>
          <a:prstGeom prst="rect">
            <a:avLst/>
          </a:prstGeom>
          <a:solidFill>
            <a:srgbClr val="16233F"/>
          </a:solidFill>
          <a:ln/>
        </p:spPr>
      </p:sp>
      <p:sp>
        <p:nvSpPr>
          <p:cNvPr id="3" name="Shape 1"/>
          <p:cNvSpPr/>
          <p:nvPr/>
        </p:nvSpPr>
        <p:spPr>
          <a:xfrm>
            <a:off x="-1463040" y="4937760"/>
            <a:ext cx="3840480" cy="384048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502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2A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502920" y="960120"/>
            <a:ext cx="3017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Abstract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502920" y="4206240"/>
            <a:ext cx="1371600" cy="1371600"/>
          </a:xfrm>
          <a:prstGeom prst="ellipse">
            <a:avLst/>
          </a:prstGeom>
          <a:solidFill>
            <a:srgbClr val="23345A"/>
          </a:solidFill>
          <a:ln/>
        </p:spPr>
      </p:sp>
      <p:pic>
        <p:nvPicPr>
          <p:cNvPr id="7" name="Image 0" descr="/home/claude/ppt/icon_brai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2104" y="4535424"/>
            <a:ext cx="713232" cy="71323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02920" y="5760720"/>
            <a:ext cx="3108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25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Adaptive learning, powered by real-time performance data.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4480560" y="822960"/>
            <a:ext cx="71323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2400"/>
              </a:lnSpc>
              <a:buNone/>
            </a:pPr>
            <a:r>
              <a:rPr lang="en-US" sz="15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 exam preparation relies on static question banks and fixed-difficulty mock tests that treat every student identically, regardless of their individual strengths and weaknesses.</a:t>
            </a:r>
            <a:endParaRPr lang="en-US" sz="1550" dirty="0"/>
          </a:p>
        </p:txBody>
      </p:sp>
      <p:sp>
        <p:nvSpPr>
          <p:cNvPr id="10" name="Text 7"/>
          <p:cNvSpPr/>
          <p:nvPr/>
        </p:nvSpPr>
        <p:spPr>
          <a:xfrm>
            <a:off x="4480560" y="2057400"/>
            <a:ext cx="713232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2400"/>
              </a:lnSpc>
              <a:buNone/>
            </a:pPr>
            <a:r>
              <a:rPr lang="en-US" sz="15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project proposes an adaptive quiz system for exam preparation that continuously analyzes a learner's responses to select questions matched to their current proficiency. By combining topic-wise performance tracking with an adaptive difficulty engine, the system identifies weak areas in real time and steers practice toward them.</a:t>
            </a:r>
            <a:endParaRPr lang="en-US" sz="1550" dirty="0"/>
          </a:p>
        </p:txBody>
      </p:sp>
      <p:sp>
        <p:nvSpPr>
          <p:cNvPr id="11" name="Text 8"/>
          <p:cNvSpPr/>
          <p:nvPr/>
        </p:nvSpPr>
        <p:spPr>
          <a:xfrm>
            <a:off x="4480560" y="3886200"/>
            <a:ext cx="713232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2400"/>
              </a:lnSpc>
              <a:buNone/>
            </a:pPr>
            <a:r>
              <a:rPr lang="en-US" sz="15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result is a personalized, efficient revision experience — replacing one-size-fits-all practice with a targeted path that improves retention, saves preparation time, and gives learners clear visibility into their exam readiness.</a:t>
            </a:r>
            <a:endParaRPr lang="en-US" sz="1550" dirty="0"/>
          </a:p>
        </p:txBody>
      </p:sp>
      <p:sp>
        <p:nvSpPr>
          <p:cNvPr id="12" name="Shape 9"/>
          <p:cNvSpPr/>
          <p:nvPr/>
        </p:nvSpPr>
        <p:spPr>
          <a:xfrm>
            <a:off x="4480560" y="5486400"/>
            <a:ext cx="214884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8F0"/>
            </a:solidFill>
            <a:prstDash val="solid"/>
          </a:ln>
          <a:effectLst>
            <a:outerShdw blurRad="76200" dist="25400" dir="5400000" algn="bl" rotWithShape="0">
              <a:srgbClr val="1B2A4A">
                <a:alpha val="12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4617720" y="5559552"/>
            <a:ext cx="1874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3x</a:t>
            </a:r>
            <a:endParaRPr lang="en-US" sz="1900" dirty="0"/>
          </a:p>
        </p:txBody>
      </p:sp>
      <p:sp>
        <p:nvSpPr>
          <p:cNvPr id="14" name="Text 11"/>
          <p:cNvSpPr/>
          <p:nvPr/>
        </p:nvSpPr>
        <p:spPr>
          <a:xfrm>
            <a:off x="4617720" y="5961888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100"/>
              </a:lnSpc>
              <a:buNone/>
            </a:pPr>
            <a:r>
              <a:rPr lang="en-US" sz="950" dirty="0">
                <a:solidFill>
                  <a:srgbClr val="6B7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targeting</a:t>
            </a:r>
            <a:endParaRPr lang="en-US" sz="950" dirty="0"/>
          </a:p>
          <a:p>
            <a:pPr marL="0" indent="0">
              <a:lnSpc>
                <a:spcPts val="1100"/>
              </a:lnSpc>
              <a:buNone/>
            </a:pPr>
            <a:r>
              <a:rPr lang="en-US" sz="950" dirty="0">
                <a:solidFill>
                  <a:srgbClr val="6B7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weak topics</a:t>
            </a:r>
            <a:endParaRPr lang="en-US" sz="950" dirty="0"/>
          </a:p>
        </p:txBody>
      </p:sp>
      <p:sp>
        <p:nvSpPr>
          <p:cNvPr id="15" name="Shape 12"/>
          <p:cNvSpPr/>
          <p:nvPr/>
        </p:nvSpPr>
        <p:spPr>
          <a:xfrm>
            <a:off x="6812280" y="5486400"/>
            <a:ext cx="214884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8F0"/>
            </a:solidFill>
            <a:prstDash val="solid"/>
          </a:ln>
          <a:effectLst>
            <a:outerShdw blurRad="76200" dist="25400" dir="5400000" algn="bl" rotWithShape="0">
              <a:srgbClr val="1B2A4A">
                <a:alpha val="12000"/>
              </a:srgbClr>
            </a:outerShdw>
          </a:effectLst>
        </p:spPr>
      </p:sp>
      <p:sp>
        <p:nvSpPr>
          <p:cNvPr id="16" name="Text 13"/>
          <p:cNvSpPr/>
          <p:nvPr/>
        </p:nvSpPr>
        <p:spPr>
          <a:xfrm>
            <a:off x="6949440" y="5559552"/>
            <a:ext cx="1874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100%</a:t>
            </a:r>
            <a:endParaRPr lang="en-US" sz="1900" dirty="0"/>
          </a:p>
        </p:txBody>
      </p:sp>
      <p:sp>
        <p:nvSpPr>
          <p:cNvPr id="17" name="Text 14"/>
          <p:cNvSpPr/>
          <p:nvPr/>
        </p:nvSpPr>
        <p:spPr>
          <a:xfrm>
            <a:off x="6949440" y="5961888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100"/>
              </a:lnSpc>
              <a:buNone/>
            </a:pPr>
            <a:r>
              <a:rPr lang="en-US" sz="950" dirty="0">
                <a:solidFill>
                  <a:srgbClr val="6B7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Personalized</a:t>
            </a:r>
            <a:endParaRPr lang="en-US" sz="950" dirty="0"/>
          </a:p>
          <a:p>
            <a:pPr marL="0" indent="0">
              <a:lnSpc>
                <a:spcPts val="1100"/>
              </a:lnSpc>
              <a:buNone/>
            </a:pPr>
            <a:r>
              <a:rPr lang="en-US" sz="950" dirty="0">
                <a:solidFill>
                  <a:srgbClr val="6B7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sequencing</a:t>
            </a:r>
            <a:endParaRPr lang="en-US" sz="950" dirty="0"/>
          </a:p>
        </p:txBody>
      </p:sp>
      <p:sp>
        <p:nvSpPr>
          <p:cNvPr id="18" name="Shape 15"/>
          <p:cNvSpPr/>
          <p:nvPr/>
        </p:nvSpPr>
        <p:spPr>
          <a:xfrm>
            <a:off x="9144000" y="5486400"/>
            <a:ext cx="214884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8F0"/>
            </a:solidFill>
            <a:prstDash val="solid"/>
          </a:ln>
          <a:effectLst>
            <a:outerShdw blurRad="76200" dist="25400" dir="5400000" algn="bl" rotWithShape="0">
              <a:srgbClr val="1B2A4A">
                <a:alpha val="12000"/>
              </a:srgbClr>
            </a:outerShdw>
          </a:effectLst>
        </p:spPr>
      </p:sp>
      <p:sp>
        <p:nvSpPr>
          <p:cNvPr id="19" name="Text 16"/>
          <p:cNvSpPr/>
          <p:nvPr/>
        </p:nvSpPr>
        <p:spPr>
          <a:xfrm>
            <a:off x="9281160" y="5559552"/>
            <a:ext cx="1874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Real-time</a:t>
            </a:r>
            <a:endParaRPr lang="en-US" sz="1900" dirty="0"/>
          </a:p>
        </p:txBody>
      </p:sp>
      <p:sp>
        <p:nvSpPr>
          <p:cNvPr id="20" name="Text 17"/>
          <p:cNvSpPr/>
          <p:nvPr/>
        </p:nvSpPr>
        <p:spPr>
          <a:xfrm>
            <a:off x="9281160" y="5961888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100"/>
              </a:lnSpc>
              <a:buNone/>
            </a:pPr>
            <a:r>
              <a:rPr lang="en-US" sz="950" dirty="0">
                <a:solidFill>
                  <a:srgbClr val="6B7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Feedback &amp;</a:t>
            </a:r>
            <a:endParaRPr lang="en-US" sz="950" dirty="0"/>
          </a:p>
          <a:p>
            <a:pPr marL="0" indent="0">
              <a:lnSpc>
                <a:spcPts val="1100"/>
              </a:lnSpc>
              <a:buNone/>
            </a:pPr>
            <a:r>
              <a:rPr lang="en-US" sz="950" dirty="0">
                <a:solidFill>
                  <a:srgbClr val="6B7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 insight</a:t>
            </a:r>
            <a:endParaRPr lang="en-US" sz="950" dirty="0"/>
          </a:p>
        </p:txBody>
      </p:sp>
      <p:sp>
        <p:nvSpPr>
          <p:cNvPr id="21" name="Text 18"/>
          <p:cNvSpPr/>
          <p:nvPr/>
        </p:nvSpPr>
        <p:spPr>
          <a:xfrm>
            <a:off x="11365992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E7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 Statement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417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6B7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static exam-prep tools fall short of real student needs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640080" y="2057400"/>
            <a:ext cx="5349240" cy="1965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8F0"/>
            </a:solidFill>
            <a:prstDash val="solid"/>
          </a:ln>
          <a:effectLst>
            <a:outerShdw blurRad="101600" dist="25400" dir="5400000" algn="bl" rotWithShape="0">
              <a:srgbClr val="1B2A4A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60120" y="2377440"/>
            <a:ext cx="731520" cy="731520"/>
          </a:xfrm>
          <a:prstGeom prst="ellipse">
            <a:avLst/>
          </a:prstGeom>
          <a:solidFill>
            <a:srgbClr val="C1584B"/>
          </a:solidFill>
          <a:ln/>
        </p:spPr>
      </p:sp>
      <p:pic>
        <p:nvPicPr>
          <p:cNvPr id="7" name="Image 0" descr="/home/claude/ppt/icon_warnin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5685" y="2553005"/>
            <a:ext cx="380390" cy="38039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874520" y="2331720"/>
            <a:ext cx="3794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One-size-fits-all practice</a:t>
            </a:r>
            <a:endParaRPr lang="en-US" sz="1550" dirty="0"/>
          </a:p>
        </p:txBody>
      </p:sp>
      <p:sp>
        <p:nvSpPr>
          <p:cNvPr id="9" name="Text 6"/>
          <p:cNvSpPr/>
          <p:nvPr/>
        </p:nvSpPr>
        <p:spPr>
          <a:xfrm>
            <a:off x="1874520" y="2807208"/>
            <a:ext cx="37947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00" dirty="0">
                <a:solidFill>
                  <a:srgbClr val="6B7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learner receives the same fixed set of questions and difficulty level, ignoring differences in ability and pace.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6446520" y="2057400"/>
            <a:ext cx="5349240" cy="1965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8F0"/>
            </a:solidFill>
            <a:prstDash val="solid"/>
          </a:ln>
          <a:effectLst>
            <a:outerShdw blurRad="101600" dist="25400" dir="5400000" algn="bl" rotWithShape="0">
              <a:srgbClr val="1B2A4A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6766560" y="2377440"/>
            <a:ext cx="731520" cy="731520"/>
          </a:xfrm>
          <a:prstGeom prst="ellipse">
            <a:avLst/>
          </a:prstGeom>
          <a:solidFill>
            <a:srgbClr val="C1584B"/>
          </a:solidFill>
          <a:ln/>
        </p:spPr>
      </p:sp>
      <p:pic>
        <p:nvPicPr>
          <p:cNvPr id="12" name="Image 1" descr="/home/claude/ppt/icon_time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42125" y="2553005"/>
            <a:ext cx="380390" cy="38039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7680960" y="2331720"/>
            <a:ext cx="3794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wasted on mastered topics</a:t>
            </a:r>
            <a:endParaRPr lang="en-US" sz="1550" dirty="0"/>
          </a:p>
        </p:txBody>
      </p:sp>
      <p:sp>
        <p:nvSpPr>
          <p:cNvPr id="14" name="Text 10"/>
          <p:cNvSpPr/>
          <p:nvPr/>
        </p:nvSpPr>
        <p:spPr>
          <a:xfrm>
            <a:off x="7680960" y="2807208"/>
            <a:ext cx="37947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00" dirty="0">
                <a:solidFill>
                  <a:srgbClr val="6B7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keep re-solving questions they've already mastered instead of focusing effort on weak areas.</a:t>
            </a:r>
            <a:endParaRPr lang="en-US" sz="1200" dirty="0"/>
          </a:p>
        </p:txBody>
      </p:sp>
      <p:sp>
        <p:nvSpPr>
          <p:cNvPr id="15" name="Shape 11"/>
          <p:cNvSpPr/>
          <p:nvPr/>
        </p:nvSpPr>
        <p:spPr>
          <a:xfrm>
            <a:off x="640080" y="4343400"/>
            <a:ext cx="5349240" cy="1965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8F0"/>
            </a:solidFill>
            <a:prstDash val="solid"/>
          </a:ln>
          <a:effectLst>
            <a:outerShdw blurRad="101600" dist="25400" dir="5400000" algn="bl" rotWithShape="0">
              <a:srgbClr val="1B2A4A">
                <a:alpha val="1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960120" y="4663440"/>
            <a:ext cx="731520" cy="731520"/>
          </a:xfrm>
          <a:prstGeom prst="ellipse">
            <a:avLst/>
          </a:prstGeom>
          <a:solidFill>
            <a:srgbClr val="C1584B"/>
          </a:solidFill>
          <a:ln/>
        </p:spPr>
      </p:sp>
      <p:pic>
        <p:nvPicPr>
          <p:cNvPr id="17" name="Image 2" descr="/home/claude/ppt/icon_chartbar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35685" y="4839005"/>
            <a:ext cx="380390" cy="38039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874520" y="4617720"/>
            <a:ext cx="3794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real-time proficiency tracking</a:t>
            </a:r>
            <a:endParaRPr lang="en-US" sz="1550" dirty="0"/>
          </a:p>
        </p:txBody>
      </p:sp>
      <p:sp>
        <p:nvSpPr>
          <p:cNvPr id="19" name="Text 14"/>
          <p:cNvSpPr/>
          <p:nvPr/>
        </p:nvSpPr>
        <p:spPr>
          <a:xfrm>
            <a:off x="1874520" y="5093208"/>
            <a:ext cx="37947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00" dirty="0">
                <a:solidFill>
                  <a:srgbClr val="6B7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 is rarely measured topic-wise during preparation, so weak spots surface only in the final exam.</a:t>
            </a:r>
            <a:endParaRPr lang="en-US" sz="1200" dirty="0"/>
          </a:p>
        </p:txBody>
      </p:sp>
      <p:sp>
        <p:nvSpPr>
          <p:cNvPr id="20" name="Shape 15"/>
          <p:cNvSpPr/>
          <p:nvPr/>
        </p:nvSpPr>
        <p:spPr>
          <a:xfrm>
            <a:off x="6446520" y="4343400"/>
            <a:ext cx="5349240" cy="1965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8F0"/>
            </a:solidFill>
            <a:prstDash val="solid"/>
          </a:ln>
          <a:effectLst>
            <a:outerShdw blurRad="101600" dist="25400" dir="5400000" algn="bl" rotWithShape="0">
              <a:srgbClr val="1B2A4A">
                <a:alpha val="10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6766560" y="4663440"/>
            <a:ext cx="731520" cy="731520"/>
          </a:xfrm>
          <a:prstGeom prst="ellipse">
            <a:avLst/>
          </a:prstGeom>
          <a:solidFill>
            <a:srgbClr val="C1584B"/>
          </a:solidFill>
          <a:ln/>
        </p:spPr>
      </p:sp>
      <p:pic>
        <p:nvPicPr>
          <p:cNvPr id="22" name="Image 3" descr="/home/claude/ppt/icon_clipboar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42125" y="4839005"/>
            <a:ext cx="380390" cy="38039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7680960" y="4617720"/>
            <a:ext cx="3794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Delayed, generic feedback</a:t>
            </a:r>
            <a:endParaRPr lang="en-US" sz="1550" dirty="0"/>
          </a:p>
        </p:txBody>
      </p:sp>
      <p:sp>
        <p:nvSpPr>
          <p:cNvPr id="24" name="Text 18"/>
          <p:cNvSpPr/>
          <p:nvPr/>
        </p:nvSpPr>
        <p:spPr>
          <a:xfrm>
            <a:off x="7680960" y="5093208"/>
            <a:ext cx="37947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00" dirty="0">
                <a:solidFill>
                  <a:srgbClr val="6B7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 tools give scores after the fact with little explanation, limiting how much a student can learn from mistakes.</a:t>
            </a:r>
            <a:endParaRPr lang="en-US" sz="1200" dirty="0"/>
          </a:p>
        </p:txBody>
      </p:sp>
      <p:sp>
        <p:nvSpPr>
          <p:cNvPr id="25" name="Text 19"/>
          <p:cNvSpPr/>
          <p:nvPr/>
        </p:nvSpPr>
        <p:spPr>
          <a:xfrm>
            <a:off x="11365992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E7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91440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Existing vs. Proposed System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5349240" cy="4709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691640"/>
            <a:ext cx="5349240" cy="685800"/>
          </a:xfrm>
          <a:prstGeom prst="rect">
            <a:avLst/>
          </a:prstGeom>
          <a:solidFill>
            <a:srgbClr val="E9EDF3"/>
          </a:solidFill>
          <a:ln/>
        </p:spPr>
      </p:sp>
      <p:sp>
        <p:nvSpPr>
          <p:cNvPr id="6" name="Shape 4"/>
          <p:cNvSpPr/>
          <p:nvPr/>
        </p:nvSpPr>
        <p:spPr>
          <a:xfrm>
            <a:off x="868680" y="1810512"/>
            <a:ext cx="457200" cy="457200"/>
          </a:xfrm>
          <a:prstGeom prst="ellipse">
            <a:avLst/>
          </a:prstGeom>
          <a:solidFill>
            <a:srgbClr val="C1584B"/>
          </a:solidFill>
          <a:ln/>
        </p:spPr>
      </p:sp>
      <p:pic>
        <p:nvPicPr>
          <p:cNvPr id="7" name="Image 0" descr="/home/claude/ppt/icon_tim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8408" y="1920240"/>
            <a:ext cx="237744" cy="23774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463040" y="1810512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System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914400" y="2633472"/>
            <a:ext cx="128016" cy="128016"/>
          </a:xfrm>
          <a:prstGeom prst="ellipse">
            <a:avLst/>
          </a:prstGeom>
          <a:solidFill>
            <a:srgbClr val="C1584B"/>
          </a:solidFill>
          <a:ln/>
        </p:spPr>
      </p:sp>
      <p:sp>
        <p:nvSpPr>
          <p:cNvPr id="10" name="Text 7"/>
          <p:cNvSpPr/>
          <p:nvPr/>
        </p:nvSpPr>
        <p:spPr>
          <a:xfrm>
            <a:off x="1188720" y="2496312"/>
            <a:ext cx="452628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600"/>
              </a:lnSpc>
              <a:buNone/>
            </a:pPr>
            <a:r>
              <a:rPr lang="en-US" sz="12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 question bank — same set and order for every student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914400" y="3392424"/>
            <a:ext cx="128016" cy="128016"/>
          </a:xfrm>
          <a:prstGeom prst="ellipse">
            <a:avLst/>
          </a:prstGeom>
          <a:solidFill>
            <a:srgbClr val="C1584B"/>
          </a:solidFill>
          <a:ln/>
        </p:spPr>
      </p:sp>
      <p:sp>
        <p:nvSpPr>
          <p:cNvPr id="12" name="Text 9"/>
          <p:cNvSpPr/>
          <p:nvPr/>
        </p:nvSpPr>
        <p:spPr>
          <a:xfrm>
            <a:off x="1188720" y="3255264"/>
            <a:ext cx="452628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600"/>
              </a:lnSpc>
              <a:buNone/>
            </a:pPr>
            <a:r>
              <a:rPr lang="en-US" sz="12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Uniform difficulty; no adjustment to learner ability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914400" y="4151376"/>
            <a:ext cx="128016" cy="128016"/>
          </a:xfrm>
          <a:prstGeom prst="ellipse">
            <a:avLst/>
          </a:prstGeom>
          <a:solidFill>
            <a:srgbClr val="C1584B"/>
          </a:solidFill>
          <a:ln/>
        </p:spPr>
      </p:sp>
      <p:sp>
        <p:nvSpPr>
          <p:cNvPr id="14" name="Text 11"/>
          <p:cNvSpPr/>
          <p:nvPr/>
        </p:nvSpPr>
        <p:spPr>
          <a:xfrm>
            <a:off x="1188720" y="4014216"/>
            <a:ext cx="452628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600"/>
              </a:lnSpc>
              <a:buNone/>
            </a:pPr>
            <a:r>
              <a:rPr lang="en-US" sz="12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Manual, infrequent progress tracking with limited analytics</a:t>
            </a:r>
            <a:endParaRPr lang="en-US" sz="1250" dirty="0"/>
          </a:p>
        </p:txBody>
      </p:sp>
      <p:sp>
        <p:nvSpPr>
          <p:cNvPr id="15" name="Shape 12"/>
          <p:cNvSpPr/>
          <p:nvPr/>
        </p:nvSpPr>
        <p:spPr>
          <a:xfrm>
            <a:off x="914400" y="4910328"/>
            <a:ext cx="128016" cy="128016"/>
          </a:xfrm>
          <a:prstGeom prst="ellipse">
            <a:avLst/>
          </a:prstGeom>
          <a:solidFill>
            <a:srgbClr val="C1584B"/>
          </a:solidFill>
          <a:ln/>
        </p:spPr>
      </p:sp>
      <p:sp>
        <p:nvSpPr>
          <p:cNvPr id="16" name="Text 13"/>
          <p:cNvSpPr/>
          <p:nvPr/>
        </p:nvSpPr>
        <p:spPr>
          <a:xfrm>
            <a:off x="1188720" y="4773168"/>
            <a:ext cx="452628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600"/>
              </a:lnSpc>
              <a:buNone/>
            </a:pPr>
            <a:r>
              <a:rPr lang="en-US" sz="12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Generic study material, not mapped to individual gaps</a:t>
            </a:r>
            <a:endParaRPr lang="en-US" sz="1250" dirty="0"/>
          </a:p>
        </p:txBody>
      </p:sp>
      <p:sp>
        <p:nvSpPr>
          <p:cNvPr id="17" name="Shape 14"/>
          <p:cNvSpPr/>
          <p:nvPr/>
        </p:nvSpPr>
        <p:spPr>
          <a:xfrm>
            <a:off x="914400" y="5669280"/>
            <a:ext cx="128016" cy="128016"/>
          </a:xfrm>
          <a:prstGeom prst="ellipse">
            <a:avLst/>
          </a:prstGeom>
          <a:solidFill>
            <a:srgbClr val="C1584B"/>
          </a:solidFill>
          <a:ln/>
        </p:spPr>
      </p:sp>
      <p:sp>
        <p:nvSpPr>
          <p:cNvPr id="18" name="Text 15"/>
          <p:cNvSpPr/>
          <p:nvPr/>
        </p:nvSpPr>
        <p:spPr>
          <a:xfrm>
            <a:off x="1188720" y="5532120"/>
            <a:ext cx="452628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600"/>
              </a:lnSpc>
              <a:buNone/>
            </a:pPr>
            <a:r>
              <a:rPr lang="en-US" sz="12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Feedback delayed until after the test, with little explanation</a:t>
            </a:r>
            <a:endParaRPr lang="en-US" sz="1250" dirty="0"/>
          </a:p>
        </p:txBody>
      </p:sp>
      <p:sp>
        <p:nvSpPr>
          <p:cNvPr id="19" name="Shape 16"/>
          <p:cNvSpPr/>
          <p:nvPr/>
        </p:nvSpPr>
        <p:spPr>
          <a:xfrm>
            <a:off x="6263640" y="1691640"/>
            <a:ext cx="5349240" cy="4709160"/>
          </a:xfrm>
          <a:prstGeom prst="rect">
            <a:avLst/>
          </a:prstGeom>
          <a:solidFill>
            <a:srgbClr val="1B2A4A"/>
          </a:solidFill>
          <a:ln/>
          <a:effectLst>
            <a:outerShdw blurRad="127000" dist="38100" dir="5400000" algn="bl" rotWithShape="0">
              <a:srgbClr val="1B2A4A">
                <a:alpha val="25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6263640" y="1691640"/>
            <a:ext cx="5349240" cy="68580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21" name="Shape 18"/>
          <p:cNvSpPr/>
          <p:nvPr/>
        </p:nvSpPr>
        <p:spPr>
          <a:xfrm>
            <a:off x="6492240" y="1810512"/>
            <a:ext cx="457200" cy="457200"/>
          </a:xfrm>
          <a:prstGeom prst="ellipse">
            <a:avLst/>
          </a:prstGeom>
          <a:solidFill>
            <a:srgbClr val="F2A93B"/>
          </a:solidFill>
          <a:ln/>
        </p:spPr>
      </p:sp>
      <p:pic>
        <p:nvPicPr>
          <p:cNvPr id="22" name="Image 1" descr="/home/claude/ppt/icon_che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01968" y="1920240"/>
            <a:ext cx="237744" cy="237744"/>
          </a:xfrm>
          <a:prstGeom prst="rect">
            <a:avLst/>
          </a:prstGeom>
        </p:spPr>
      </p:pic>
      <p:sp>
        <p:nvSpPr>
          <p:cNvPr id="23" name="Text 19"/>
          <p:cNvSpPr/>
          <p:nvPr/>
        </p:nvSpPr>
        <p:spPr>
          <a:xfrm>
            <a:off x="7086600" y="1810512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System</a:t>
            </a:r>
            <a:endParaRPr lang="en-US" sz="1600" dirty="0"/>
          </a:p>
        </p:txBody>
      </p:sp>
      <p:sp>
        <p:nvSpPr>
          <p:cNvPr id="24" name="Shape 20"/>
          <p:cNvSpPr/>
          <p:nvPr/>
        </p:nvSpPr>
        <p:spPr>
          <a:xfrm>
            <a:off x="6537960" y="2633472"/>
            <a:ext cx="128016" cy="128016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25" name="Text 21"/>
          <p:cNvSpPr/>
          <p:nvPr/>
        </p:nvSpPr>
        <p:spPr>
          <a:xfrm>
            <a:off x="6812280" y="2496312"/>
            <a:ext cx="452628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600"/>
              </a:lnSpc>
              <a:buNone/>
            </a:pPr>
            <a:r>
              <a:rPr lang="en-US" sz="1250" dirty="0">
                <a:solidFill>
                  <a:srgbClr val="F2F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question selection driven by live performance data</a:t>
            </a:r>
            <a:endParaRPr lang="en-US" sz="1250" dirty="0"/>
          </a:p>
        </p:txBody>
      </p:sp>
      <p:sp>
        <p:nvSpPr>
          <p:cNvPr id="26" name="Shape 22"/>
          <p:cNvSpPr/>
          <p:nvPr/>
        </p:nvSpPr>
        <p:spPr>
          <a:xfrm>
            <a:off x="6537960" y="3392424"/>
            <a:ext cx="128016" cy="128016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27" name="Text 23"/>
          <p:cNvSpPr/>
          <p:nvPr/>
        </p:nvSpPr>
        <p:spPr>
          <a:xfrm>
            <a:off x="6812280" y="3255264"/>
            <a:ext cx="452628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600"/>
              </a:lnSpc>
              <a:buNone/>
            </a:pPr>
            <a:r>
              <a:rPr lang="en-US" sz="1250" dirty="0">
                <a:solidFill>
                  <a:srgbClr val="F2F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Adaptive difficulty engine tunes each question to current skill</a:t>
            </a:r>
            <a:endParaRPr lang="en-US" sz="1250" dirty="0"/>
          </a:p>
        </p:txBody>
      </p:sp>
      <p:sp>
        <p:nvSpPr>
          <p:cNvPr id="28" name="Shape 24"/>
          <p:cNvSpPr/>
          <p:nvPr/>
        </p:nvSpPr>
        <p:spPr>
          <a:xfrm>
            <a:off x="6537960" y="4151376"/>
            <a:ext cx="128016" cy="128016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29" name="Text 25"/>
          <p:cNvSpPr/>
          <p:nvPr/>
        </p:nvSpPr>
        <p:spPr>
          <a:xfrm>
            <a:off x="6812280" y="4014216"/>
            <a:ext cx="452628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600"/>
              </a:lnSpc>
              <a:buNone/>
            </a:pPr>
            <a:r>
              <a:rPr lang="en-US" sz="1250" dirty="0">
                <a:solidFill>
                  <a:srgbClr val="F2F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topic-wise analytics dashboard, updated continuously</a:t>
            </a:r>
            <a:endParaRPr lang="en-US" sz="1250" dirty="0"/>
          </a:p>
        </p:txBody>
      </p:sp>
      <p:sp>
        <p:nvSpPr>
          <p:cNvPr id="30" name="Shape 26"/>
          <p:cNvSpPr/>
          <p:nvPr/>
        </p:nvSpPr>
        <p:spPr>
          <a:xfrm>
            <a:off x="6537960" y="4910328"/>
            <a:ext cx="128016" cy="128016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31" name="Text 27"/>
          <p:cNvSpPr/>
          <p:nvPr/>
        </p:nvSpPr>
        <p:spPr>
          <a:xfrm>
            <a:off x="6812280" y="4773168"/>
            <a:ext cx="452628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600"/>
              </a:lnSpc>
              <a:buNone/>
            </a:pPr>
            <a:r>
              <a:rPr lang="en-US" sz="1250" dirty="0">
                <a:solidFill>
                  <a:srgbClr val="F2F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Personalized study path generated per student, per weak area</a:t>
            </a:r>
            <a:endParaRPr lang="en-US" sz="1250" dirty="0"/>
          </a:p>
        </p:txBody>
      </p:sp>
      <p:sp>
        <p:nvSpPr>
          <p:cNvPr id="32" name="Shape 28"/>
          <p:cNvSpPr/>
          <p:nvPr/>
        </p:nvSpPr>
        <p:spPr>
          <a:xfrm>
            <a:off x="6537960" y="5669280"/>
            <a:ext cx="128016" cy="128016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33" name="Text 29"/>
          <p:cNvSpPr/>
          <p:nvPr/>
        </p:nvSpPr>
        <p:spPr>
          <a:xfrm>
            <a:off x="6812280" y="5532120"/>
            <a:ext cx="452628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600"/>
              </a:lnSpc>
              <a:buNone/>
            </a:pPr>
            <a:r>
              <a:rPr lang="en-US" sz="1250" dirty="0">
                <a:solidFill>
                  <a:srgbClr val="F2F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Instant feedback and explanations right after each question</a:t>
            </a:r>
            <a:endParaRPr lang="en-US" sz="1250" dirty="0"/>
          </a:p>
        </p:txBody>
      </p:sp>
      <p:sp>
        <p:nvSpPr>
          <p:cNvPr id="34" name="Text 30"/>
          <p:cNvSpPr/>
          <p:nvPr/>
        </p:nvSpPr>
        <p:spPr>
          <a:xfrm>
            <a:off x="11365992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E7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6233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875520" y="-1645920"/>
            <a:ext cx="4206240" cy="420624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5720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2A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640080" y="777240"/>
            <a:ext cx="8732520" cy="42315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Proposed System Architecture</a:t>
            </a:r>
            <a:endParaRPr lang="en-US" sz="2800" dirty="0"/>
          </a:p>
        </p:txBody>
      </p:sp>
      <p:sp>
        <p:nvSpPr>
          <p:cNvPr id="8" name="Text 5"/>
          <p:cNvSpPr/>
          <p:nvPr/>
        </p:nvSpPr>
        <p:spPr>
          <a:xfrm>
            <a:off x="731520" y="2971800"/>
            <a:ext cx="1783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731520" y="3246120"/>
            <a:ext cx="1783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850" dirty="0"/>
          </a:p>
        </p:txBody>
      </p:sp>
      <p:sp>
        <p:nvSpPr>
          <p:cNvPr id="26" name="Text 20"/>
          <p:cNvSpPr/>
          <p:nvPr/>
        </p:nvSpPr>
        <p:spPr>
          <a:xfrm>
            <a:off x="7589520" y="2971800"/>
            <a:ext cx="1783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100" dirty="0"/>
          </a:p>
        </p:txBody>
      </p:sp>
      <p:sp>
        <p:nvSpPr>
          <p:cNvPr id="27" name="Text 21"/>
          <p:cNvSpPr/>
          <p:nvPr/>
        </p:nvSpPr>
        <p:spPr>
          <a:xfrm>
            <a:off x="7589520" y="3246120"/>
            <a:ext cx="1783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850" dirty="0"/>
          </a:p>
        </p:txBody>
      </p:sp>
      <p:sp>
        <p:nvSpPr>
          <p:cNvPr id="32" name="Text 25"/>
          <p:cNvSpPr/>
          <p:nvPr/>
        </p:nvSpPr>
        <p:spPr>
          <a:xfrm>
            <a:off x="9875520" y="2971800"/>
            <a:ext cx="1783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100" dirty="0"/>
          </a:p>
        </p:txBody>
      </p:sp>
      <p:sp>
        <p:nvSpPr>
          <p:cNvPr id="41" name="Text 33"/>
          <p:cNvSpPr/>
          <p:nvPr/>
        </p:nvSpPr>
        <p:spPr>
          <a:xfrm>
            <a:off x="640080" y="5989320"/>
            <a:ext cx="10881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700"/>
              </a:lnSpc>
              <a:buNone/>
            </a:pPr>
            <a:endParaRPr lang="en-US" sz="1200" dirty="0"/>
          </a:p>
        </p:txBody>
      </p:sp>
      <p:sp>
        <p:nvSpPr>
          <p:cNvPr id="42" name="Text 34"/>
          <p:cNvSpPr/>
          <p:nvPr/>
        </p:nvSpPr>
        <p:spPr>
          <a:xfrm>
            <a:off x="11365992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B7C0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  <p:pic>
        <p:nvPicPr>
          <p:cNvPr id="47" name="Picture 46">
            <a:extLst>
              <a:ext uri="{FF2B5EF4-FFF2-40B4-BE49-F238E27FC236}">
                <a16:creationId xmlns:a16="http://schemas.microsoft.com/office/drawing/2014/main" id="{C50D9442-8355-58CD-1B0D-098302132A2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74715" y="1291834"/>
            <a:ext cx="7199817" cy="5478122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Tools Used to Implement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37160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6B7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stack across frontend, backend, adaptive engine, and hosting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640080" y="2011680"/>
            <a:ext cx="3520440" cy="2057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8F0"/>
            </a:solidFill>
            <a:prstDash val="solid"/>
          </a:ln>
          <a:effectLst>
            <a:outerShdw blurRad="101600" dist="25400" dir="5400000" algn="bl" rotWithShape="0">
              <a:srgbClr val="1B2A4A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988820" y="2286000"/>
            <a:ext cx="822960" cy="82296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7" name="Image 0" descr="/home/claude/ppt/icon_reac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86330" y="2483510"/>
            <a:ext cx="427939" cy="427939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22960" y="3246120"/>
            <a:ext cx="3154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/ React Native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822960" y="3611880"/>
            <a:ext cx="3154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B7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&amp; mobile quiz interface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4416552" y="2011680"/>
            <a:ext cx="3520440" cy="2057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8F0"/>
            </a:solidFill>
            <a:prstDash val="solid"/>
          </a:ln>
          <a:effectLst>
            <a:outerShdw blurRad="101600" dist="25400" dir="5400000" algn="bl" rotWithShape="0">
              <a:srgbClr val="1B2A4A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5765292" y="2286000"/>
            <a:ext cx="822960" cy="82296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2" name="Image 1" descr="/home/claude/ppt/icon_pytho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62802" y="2483510"/>
            <a:ext cx="427939" cy="427939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599432" y="3246120"/>
            <a:ext cx="3154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(Flask / Django)</a:t>
            </a:r>
            <a:endParaRPr lang="en-US" sz="1350" dirty="0"/>
          </a:p>
        </p:txBody>
      </p:sp>
      <p:sp>
        <p:nvSpPr>
          <p:cNvPr id="14" name="Text 10"/>
          <p:cNvSpPr/>
          <p:nvPr/>
        </p:nvSpPr>
        <p:spPr>
          <a:xfrm>
            <a:off x="4599432" y="3611880"/>
            <a:ext cx="3154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B7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&amp; API services</a:t>
            </a:r>
            <a:endParaRPr lang="en-US" sz="1050" dirty="0"/>
          </a:p>
        </p:txBody>
      </p:sp>
      <p:sp>
        <p:nvSpPr>
          <p:cNvPr id="15" name="Shape 11"/>
          <p:cNvSpPr/>
          <p:nvPr/>
        </p:nvSpPr>
        <p:spPr>
          <a:xfrm>
            <a:off x="8193024" y="2011680"/>
            <a:ext cx="3520440" cy="2057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8F0"/>
            </a:solidFill>
            <a:prstDash val="solid"/>
          </a:ln>
          <a:effectLst>
            <a:outerShdw blurRad="101600" dist="25400" dir="5400000" algn="bl" rotWithShape="0">
              <a:srgbClr val="1B2A4A">
                <a:alpha val="1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9541764" y="2286000"/>
            <a:ext cx="822960" cy="82296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7" name="Image 2" descr="/home/claude/ppt/icon_robo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39274" y="2483510"/>
            <a:ext cx="427939" cy="427939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375904" y="3246120"/>
            <a:ext cx="3154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Scikit-learn / TensorFlow</a:t>
            </a:r>
            <a:endParaRPr lang="en-US" sz="1350" dirty="0"/>
          </a:p>
        </p:txBody>
      </p:sp>
      <p:sp>
        <p:nvSpPr>
          <p:cNvPr id="19" name="Text 14"/>
          <p:cNvSpPr/>
          <p:nvPr/>
        </p:nvSpPr>
        <p:spPr>
          <a:xfrm>
            <a:off x="8375904" y="3611880"/>
            <a:ext cx="3154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B7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Adaptive difficulty &amp; ML model</a:t>
            </a:r>
            <a:endParaRPr lang="en-US" sz="1050" dirty="0"/>
          </a:p>
        </p:txBody>
      </p:sp>
      <p:sp>
        <p:nvSpPr>
          <p:cNvPr id="20" name="Shape 15"/>
          <p:cNvSpPr/>
          <p:nvPr/>
        </p:nvSpPr>
        <p:spPr>
          <a:xfrm>
            <a:off x="640080" y="4343400"/>
            <a:ext cx="3520440" cy="2057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8F0"/>
            </a:solidFill>
            <a:prstDash val="solid"/>
          </a:ln>
          <a:effectLst>
            <a:outerShdw blurRad="101600" dist="25400" dir="5400000" algn="bl" rotWithShape="0">
              <a:srgbClr val="1B2A4A">
                <a:alpha val="10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1988820" y="4617720"/>
            <a:ext cx="822960" cy="82296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22" name="Image 3" descr="/home/claude/ppt/icon_databas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186330" y="4815230"/>
            <a:ext cx="427939" cy="427939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822960" y="5577840"/>
            <a:ext cx="3154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 / Firebase</a:t>
            </a:r>
            <a:endParaRPr lang="en-US" sz="1350" dirty="0"/>
          </a:p>
        </p:txBody>
      </p:sp>
      <p:sp>
        <p:nvSpPr>
          <p:cNvPr id="24" name="Text 18"/>
          <p:cNvSpPr/>
          <p:nvPr/>
        </p:nvSpPr>
        <p:spPr>
          <a:xfrm>
            <a:off x="822960" y="5943600"/>
            <a:ext cx="3154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B7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profiles &amp; question bank</a:t>
            </a:r>
            <a:endParaRPr lang="en-US" sz="1050" dirty="0"/>
          </a:p>
        </p:txBody>
      </p:sp>
      <p:sp>
        <p:nvSpPr>
          <p:cNvPr id="25" name="Shape 19"/>
          <p:cNvSpPr/>
          <p:nvPr/>
        </p:nvSpPr>
        <p:spPr>
          <a:xfrm>
            <a:off x="4416552" y="4343400"/>
            <a:ext cx="3520440" cy="2057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8F0"/>
            </a:solidFill>
            <a:prstDash val="solid"/>
          </a:ln>
          <a:effectLst>
            <a:outerShdw blurRad="101600" dist="25400" dir="5400000" algn="bl" rotWithShape="0">
              <a:srgbClr val="1B2A4A">
                <a:alpha val="10000"/>
              </a:srgbClr>
            </a:outerShdw>
          </a:effectLst>
        </p:spPr>
      </p:sp>
      <p:sp>
        <p:nvSpPr>
          <p:cNvPr id="26" name="Shape 20"/>
          <p:cNvSpPr/>
          <p:nvPr/>
        </p:nvSpPr>
        <p:spPr>
          <a:xfrm>
            <a:off x="5765292" y="4617720"/>
            <a:ext cx="822960" cy="82296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27" name="Image 4" descr="/home/claude/ppt/icon_clou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962802" y="4815230"/>
            <a:ext cx="427939" cy="427939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4599432" y="5577840"/>
            <a:ext cx="3154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/ Google Cloud</a:t>
            </a:r>
            <a:endParaRPr lang="en-US" sz="1350" dirty="0"/>
          </a:p>
        </p:txBody>
      </p:sp>
      <p:sp>
        <p:nvSpPr>
          <p:cNvPr id="29" name="Text 22"/>
          <p:cNvSpPr/>
          <p:nvPr/>
        </p:nvSpPr>
        <p:spPr>
          <a:xfrm>
            <a:off x="4599432" y="5943600"/>
            <a:ext cx="3154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B7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Hosting &amp; scalable deployment</a:t>
            </a:r>
            <a:endParaRPr lang="en-US" sz="1050" dirty="0"/>
          </a:p>
        </p:txBody>
      </p:sp>
      <p:sp>
        <p:nvSpPr>
          <p:cNvPr id="30" name="Shape 23"/>
          <p:cNvSpPr/>
          <p:nvPr/>
        </p:nvSpPr>
        <p:spPr>
          <a:xfrm>
            <a:off x="8193024" y="4343400"/>
            <a:ext cx="3520440" cy="2057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8F0"/>
            </a:solidFill>
            <a:prstDash val="solid"/>
          </a:ln>
          <a:effectLst>
            <a:outerShdw blurRad="101600" dist="25400" dir="5400000" algn="bl" rotWithShape="0">
              <a:srgbClr val="1B2A4A">
                <a:alpha val="10000"/>
              </a:srgbClr>
            </a:outerShdw>
          </a:effectLst>
        </p:spPr>
      </p:sp>
      <p:sp>
        <p:nvSpPr>
          <p:cNvPr id="31" name="Shape 24"/>
          <p:cNvSpPr/>
          <p:nvPr/>
        </p:nvSpPr>
        <p:spPr>
          <a:xfrm>
            <a:off x="9541764" y="4617720"/>
            <a:ext cx="822960" cy="82296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32" name="Image 5" descr="/home/claude/ppt/icon_cod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739274" y="4815230"/>
            <a:ext cx="427939" cy="427939"/>
          </a:xfrm>
          <a:prstGeom prst="rect">
            <a:avLst/>
          </a:prstGeom>
        </p:spPr>
      </p:pic>
      <p:sp>
        <p:nvSpPr>
          <p:cNvPr id="33" name="Text 25"/>
          <p:cNvSpPr/>
          <p:nvPr/>
        </p:nvSpPr>
        <p:spPr>
          <a:xfrm>
            <a:off x="8375904" y="5577840"/>
            <a:ext cx="3154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&amp; GitHub</a:t>
            </a:r>
            <a:endParaRPr lang="en-US" sz="1350" dirty="0"/>
          </a:p>
        </p:txBody>
      </p:sp>
      <p:sp>
        <p:nvSpPr>
          <p:cNvPr id="34" name="Text 26"/>
          <p:cNvSpPr/>
          <p:nvPr/>
        </p:nvSpPr>
        <p:spPr>
          <a:xfrm>
            <a:off x="8375904" y="5943600"/>
            <a:ext cx="3154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B7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 control &amp; collaboration</a:t>
            </a:r>
            <a:endParaRPr lang="en-US" sz="1050" dirty="0"/>
          </a:p>
        </p:txBody>
      </p:sp>
      <p:sp>
        <p:nvSpPr>
          <p:cNvPr id="35" name="Text 27"/>
          <p:cNvSpPr/>
          <p:nvPr/>
        </p:nvSpPr>
        <p:spPr>
          <a:xfrm>
            <a:off x="11365992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E7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6233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09760" y="-1463040"/>
            <a:ext cx="4754880" cy="475488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3" name="Shape 1"/>
          <p:cNvSpPr/>
          <p:nvPr/>
        </p:nvSpPr>
        <p:spPr>
          <a:xfrm>
            <a:off x="10607040" y="4206240"/>
            <a:ext cx="3108960" cy="3108960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4" name="Shape 2"/>
          <p:cNvSpPr/>
          <p:nvPr/>
        </p:nvSpPr>
        <p:spPr>
          <a:xfrm>
            <a:off x="-1280160" y="4846320"/>
            <a:ext cx="3657600" cy="365760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5" name="Shape 3"/>
          <p:cNvSpPr/>
          <p:nvPr/>
        </p:nvSpPr>
        <p:spPr>
          <a:xfrm>
            <a:off x="5230368" y="1371600"/>
            <a:ext cx="1737360" cy="1737360"/>
          </a:xfrm>
          <a:prstGeom prst="ellipse">
            <a:avLst/>
          </a:prstGeom>
          <a:solidFill>
            <a:srgbClr val="23345A"/>
          </a:solidFill>
          <a:ln/>
        </p:spPr>
      </p:sp>
      <p:pic>
        <p:nvPicPr>
          <p:cNvPr id="6" name="Image 0" descr="/home/claude/ppt/icon_gra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47334" y="1788566"/>
            <a:ext cx="903427" cy="903427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22960" y="3246120"/>
            <a:ext cx="10515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400" dirty="0"/>
          </a:p>
        </p:txBody>
      </p:sp>
      <p:sp>
        <p:nvSpPr>
          <p:cNvPr id="8" name="Shape 5"/>
          <p:cNvSpPr/>
          <p:nvPr/>
        </p:nvSpPr>
        <p:spPr>
          <a:xfrm>
            <a:off x="5504688" y="4315968"/>
            <a:ext cx="1188720" cy="0"/>
          </a:xfrm>
          <a:prstGeom prst="line">
            <a:avLst/>
          </a:prstGeom>
          <a:noFill/>
          <a:ln w="38100">
            <a:solidFill>
              <a:srgbClr val="F2A93B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22960" y="4480560"/>
            <a:ext cx="10515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 Preparation with Adaptive Quizzes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822960" y="5166360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kern="0" spc="200" dirty="0">
                <a:solidFill>
                  <a:srgbClr val="94A3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- 26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822960" y="548640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2F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2520030385  Tanvitha      2520030069  Hemaswi      2520030350  Vedika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11365992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B7C0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466</Words>
  <Application>Microsoft Office PowerPoint</Application>
  <PresentationFormat>Widescreen</PresentationFormat>
  <Paragraphs>82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thanvitha p</cp:lastModifiedBy>
  <cp:revision>2</cp:revision>
  <dcterms:created xsi:type="dcterms:W3CDTF">2026-08-27T03:31:25Z</dcterms:created>
  <dcterms:modified xsi:type="dcterms:W3CDTF">2026-08-27T03:58:08Z</dcterms:modified>
</cp:coreProperties>
</file>